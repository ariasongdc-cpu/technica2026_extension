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4"/>
    <p:sldId id="267" r:id="rId5"/>
    <p:sldId id="265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05"/>
    <p:restoredTop sz="91270"/>
  </p:normalViewPr>
  <p:slideViewPr>
    <p:cSldViewPr snapToGrid="0" snapToObjects="1">
      <p:cViewPr>
        <p:scale>
          <a:sx n="52" d="100"/>
          <a:sy n="52" d="100"/>
        </p:scale>
        <p:origin x="1216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29600" y="-640080"/>
            <a:ext cx="4389120" cy="4114800"/>
          </a:xfrm>
          <a:prstGeom prst="ellipse">
            <a:avLst/>
          </a:prstGeom>
          <a:solidFill>
            <a:srgbClr val="C0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502920"/>
            <a:ext cx="10927080" cy="571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960120"/>
            <a:ext cx="987552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 dirty="0">
                <a:solidFill>
                  <a:srgbClr val="C7538F"/>
                </a:solidFill>
                <a:latin typeface="Aptos"/>
              </a:rPr>
              <a:t>✦  </a:t>
            </a:r>
            <a:r>
              <a:rPr lang="en-US" sz="1400" b="1" i="0" dirty="0">
                <a:solidFill>
                  <a:srgbClr val="C7538F"/>
                </a:solidFill>
                <a:latin typeface="Aptos"/>
              </a:rPr>
              <a:t>technica2026</a:t>
            </a:r>
            <a:endParaRPr sz="1400" b="1" i="0" dirty="0">
              <a:solidFill>
                <a:srgbClr val="C7538F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9875520" cy="86177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5000" b="1" i="0">
                <a:solidFill>
                  <a:srgbClr val="C7538F"/>
                </a:solidFill>
                <a:latin typeface="Georgia"/>
              </a:rPr>
              <a:t>TerpWhisper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26747"/>
            <a:ext cx="3492305" cy="11079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 dirty="0">
                <a:solidFill>
                  <a:srgbClr val="261249"/>
                </a:solidFill>
                <a:latin typeface="Georgia"/>
              </a:rPr>
              <a:t>Understand your professor </a:t>
            </a:r>
            <a:r>
              <a:rPr lang="en-US" sz="2200" b="0" i="0" dirty="0">
                <a:solidFill>
                  <a:srgbClr val="261249"/>
                </a:solidFill>
                <a:latin typeface="Georgia"/>
              </a:rPr>
              <a:t>or class </a:t>
            </a:r>
            <a:r>
              <a:rPr sz="2200" b="0" i="0" dirty="0">
                <a:solidFill>
                  <a:srgbClr val="261249"/>
                </a:solidFill>
                <a:latin typeface="Georgia"/>
              </a:rPr>
              <a:t>with just a whisper of knowledge.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166360"/>
            <a:ext cx="8046720" cy="3693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b="0" i="0" dirty="0">
                <a:solidFill>
                  <a:srgbClr val="6F5377"/>
                </a:solidFill>
                <a:latin typeface="Aptos"/>
              </a:rPr>
              <a:t>Team: </a:t>
            </a:r>
            <a:r>
              <a:rPr lang="en-US" b="0" i="0" dirty="0">
                <a:solidFill>
                  <a:srgbClr val="6F5377"/>
                </a:solidFill>
                <a:latin typeface="Aptos"/>
              </a:rPr>
              <a:t>Aria, Martin, Abigail</a:t>
            </a:r>
            <a:endParaRPr b="0" i="0" dirty="0">
              <a:solidFill>
                <a:srgbClr val="6F5377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332720" y="5715000"/>
            <a:ext cx="731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 i="0">
                <a:solidFill>
                  <a:srgbClr val="C7538F"/>
                </a:solidFill>
                <a:latin typeface="Georgia"/>
              </a:rPr>
              <a:t>✧ ✦ ✧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27BF220-B1E7-AA7E-4ACB-46737C072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03684"/>
            <a:ext cx="4536002" cy="44827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29600" y="82296"/>
            <a:ext cx="4389120" cy="4114800"/>
          </a:xfrm>
          <a:prstGeom prst="ellipse">
            <a:avLst/>
          </a:prstGeom>
          <a:solidFill>
            <a:srgbClr val="C0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822960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dirty="0">
                <a:solidFill>
                  <a:srgbClr val="C7538F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0972800" cy="95410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 dirty="0">
                <a:solidFill>
                  <a:srgbClr val="261249"/>
                </a:solidFill>
                <a:latin typeface="Georgia"/>
              </a:rPr>
              <a:t>Choosing a professor</a:t>
            </a:r>
            <a:r>
              <a:rPr lang="en-US" sz="2800" b="1" i="0" dirty="0">
                <a:solidFill>
                  <a:srgbClr val="261249"/>
                </a:solidFill>
                <a:latin typeface="Georgia"/>
              </a:rPr>
              <a:t> or class</a:t>
            </a:r>
            <a:r>
              <a:rPr sz="2800" b="1" i="0" dirty="0">
                <a:solidFill>
                  <a:srgbClr val="261249"/>
                </a:solidFill>
                <a:latin typeface="Georgia"/>
              </a:rPr>
              <a:t> </a:t>
            </a:r>
            <a:r>
              <a:rPr lang="en-US" sz="2800" b="1" i="0" dirty="0">
                <a:solidFill>
                  <a:srgbClr val="261249"/>
                </a:solidFill>
                <a:latin typeface="Georgia"/>
              </a:rPr>
              <a:t>on </a:t>
            </a:r>
            <a:r>
              <a:rPr lang="en-US" sz="2800" b="1" i="0" dirty="0" err="1">
                <a:solidFill>
                  <a:srgbClr val="261249"/>
                </a:solidFill>
                <a:latin typeface="Georgia"/>
              </a:rPr>
              <a:t>PlanetTerp</a:t>
            </a:r>
            <a:r>
              <a:rPr lang="en-US" sz="2800" b="1" i="0" dirty="0">
                <a:solidFill>
                  <a:srgbClr val="261249"/>
                </a:solidFill>
                <a:latin typeface="Georgia"/>
              </a:rPr>
              <a:t> </a:t>
            </a:r>
            <a:r>
              <a:rPr sz="2800" b="1" i="0" dirty="0">
                <a:solidFill>
                  <a:srgbClr val="261249"/>
                </a:solidFill>
                <a:latin typeface="Georgia"/>
              </a:rPr>
              <a:t>shouldn't feel like guesswork.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365760"/>
            <a:ext cx="5486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 dirty="0">
                <a:solidFill>
                  <a:srgbClr val="6F5377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" y="1762164"/>
            <a:ext cx="5166360" cy="4343400"/>
          </a:xfrm>
          <a:prstGeom prst="roundRect">
            <a:avLst/>
          </a:prstGeom>
          <a:solidFill>
            <a:srgbClr val="F5CFE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2039778"/>
            <a:ext cx="44805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7538F"/>
                </a:solidFill>
                <a:latin typeface="Aptos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23160"/>
            <a:ext cx="4434840" cy="120032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2400" b="1" i="0" dirty="0">
                <a:solidFill>
                  <a:srgbClr val="261249"/>
                </a:solidFill>
                <a:latin typeface="Georgia"/>
              </a:rPr>
              <a:t>In </a:t>
            </a:r>
            <a:r>
              <a:rPr lang="en-US" sz="2400" b="1" i="0" dirty="0" err="1">
                <a:solidFill>
                  <a:srgbClr val="261249"/>
                </a:solidFill>
                <a:latin typeface="Georgia"/>
              </a:rPr>
              <a:t>PlanetTerp</a:t>
            </a:r>
            <a:r>
              <a:rPr lang="en-US" sz="2400" b="1" i="0" dirty="0">
                <a:solidFill>
                  <a:srgbClr val="261249"/>
                </a:solidFill>
                <a:latin typeface="Georgia"/>
              </a:rPr>
              <a:t>, reviews of professors and classes are usually ver</a:t>
            </a:r>
            <a:r>
              <a:rPr lang="en-US" sz="2400" b="1" dirty="0">
                <a:solidFill>
                  <a:srgbClr val="261249"/>
                </a:solidFill>
                <a:latin typeface="Georgia"/>
              </a:rPr>
              <a:t>y scattered</a:t>
            </a:r>
            <a:endParaRPr sz="2400" b="1" i="0" dirty="0">
              <a:solidFill>
                <a:srgbClr val="261249"/>
              </a:solidFill>
              <a:latin typeface="Georgia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960120" y="4087368"/>
            <a:ext cx="109728" cy="109728"/>
          </a:xfrm>
          <a:prstGeom prst="ellipse">
            <a:avLst/>
          </a:prstGeom>
          <a:solidFill>
            <a:srgbClr val="C75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3977639"/>
            <a:ext cx="4251960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 dirty="0">
                <a:solidFill>
                  <a:srgbClr val="261249"/>
                </a:solidFill>
                <a:latin typeface="Aptos"/>
              </a:rPr>
              <a:t>Students have limited time to read every review.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4636007"/>
            <a:ext cx="109728" cy="109728"/>
          </a:xfrm>
          <a:prstGeom prst="ellipse">
            <a:avLst/>
          </a:prstGeom>
          <a:solidFill>
            <a:srgbClr val="C75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4526279"/>
            <a:ext cx="4251960" cy="3231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 dirty="0">
                <a:solidFill>
                  <a:srgbClr val="261249"/>
                </a:solidFill>
                <a:latin typeface="Aptos"/>
              </a:rPr>
              <a:t>Important patterns can get buried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" y="5184648"/>
            <a:ext cx="109728" cy="109728"/>
          </a:xfrm>
          <a:prstGeom prst="ellipse">
            <a:avLst/>
          </a:prstGeom>
          <a:solidFill>
            <a:srgbClr val="C75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88720" y="5074920"/>
            <a:ext cx="4251960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 dirty="0">
                <a:solidFill>
                  <a:srgbClr val="261249"/>
                </a:solidFill>
                <a:latin typeface="Aptos"/>
              </a:rPr>
              <a:t>A rating alone doesn't explain the classroom experience.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526381"/>
            <a:ext cx="5212080" cy="470982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2148840"/>
            <a:ext cx="4480560" cy="276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200" b="1" dirty="0">
                <a:solidFill>
                  <a:srgbClr val="C7538F"/>
                </a:solidFill>
                <a:latin typeface="Aptos"/>
              </a:rPr>
              <a:t>Our Project</a:t>
            </a:r>
            <a:endParaRPr sz="1200" b="1" i="0" dirty="0">
              <a:solidFill>
                <a:srgbClr val="C7538F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68440" y="2442769"/>
            <a:ext cx="4434840" cy="150810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2300" b="1" i="0" dirty="0">
                <a:solidFill>
                  <a:srgbClr val="261249"/>
                </a:solidFill>
                <a:latin typeface="Georgia"/>
              </a:rPr>
              <a:t>A chrome extension that </a:t>
            </a:r>
            <a:r>
              <a:rPr lang="en-US" sz="2300" b="1" dirty="0">
                <a:solidFill>
                  <a:srgbClr val="261249"/>
                </a:solidFill>
                <a:latin typeface="Georgia"/>
              </a:rPr>
              <a:t>h</a:t>
            </a:r>
            <a:r>
              <a:rPr lang="en-US" sz="2300" b="1" i="0" dirty="0">
                <a:solidFill>
                  <a:srgbClr val="261249"/>
                </a:solidFill>
                <a:latin typeface="Georgia"/>
              </a:rPr>
              <a:t>elps users turn scattered reviews into a neat summary of the professor or class.</a:t>
            </a:r>
            <a:endParaRPr sz="2300" b="1" i="0" dirty="0">
              <a:solidFill>
                <a:srgbClr val="261249"/>
              </a:solidFill>
              <a:latin typeface="Georgi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83680" y="4287811"/>
            <a:ext cx="2048876" cy="140038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700" b="0" i="0" dirty="0">
                <a:solidFill>
                  <a:srgbClr val="6F5377"/>
                </a:solidFill>
                <a:latin typeface="Aptos"/>
              </a:rPr>
              <a:t>Just search by name, and it gives you clear sectioned summaries from Gemini API</a:t>
            </a:r>
            <a:endParaRPr sz="1700" b="0" i="0" dirty="0">
              <a:solidFill>
                <a:srgbClr val="6F5377"/>
              </a:solidFill>
              <a:latin typeface="Aptos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959D555-E390-F9DE-0265-C97428826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0" y="4080446"/>
            <a:ext cx="1808042" cy="17868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24CC8E-BF29-ABA6-9040-4B27258CE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5342C9B7-77CF-4739-67CB-6A646951927B}"/>
              </a:ext>
            </a:extLst>
          </p:cNvPr>
          <p:cNvSpPr/>
          <p:nvPr/>
        </p:nvSpPr>
        <p:spPr>
          <a:xfrm>
            <a:off x="8229600" y="-640080"/>
            <a:ext cx="4389120" cy="4114800"/>
          </a:xfrm>
          <a:prstGeom prst="ellipse">
            <a:avLst/>
          </a:prstGeom>
          <a:solidFill>
            <a:srgbClr val="C0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50BFC8-43AE-DFCA-3917-FC2123D495FB}"/>
              </a:ext>
            </a:extLst>
          </p:cNvPr>
          <p:cNvSpPr txBox="1"/>
          <p:nvPr/>
        </p:nvSpPr>
        <p:spPr>
          <a:xfrm>
            <a:off x="594360" y="320040"/>
            <a:ext cx="8229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7538F"/>
                </a:solidFill>
                <a:latin typeface="Aptos"/>
              </a:rPr>
              <a:t>02 / THE SOLUTION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2F5E9B-2F98-6CBB-C817-018B91AFAD85}"/>
              </a:ext>
            </a:extLst>
          </p:cNvPr>
          <p:cNvSpPr txBox="1"/>
          <p:nvPr/>
        </p:nvSpPr>
        <p:spPr>
          <a:xfrm>
            <a:off x="548640" y="1639648"/>
            <a:ext cx="10972800" cy="43088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2200" b="1" i="0" dirty="0">
                <a:solidFill>
                  <a:srgbClr val="261249"/>
                </a:solidFill>
                <a:latin typeface="Georgia"/>
              </a:rPr>
              <a:t>Code </a:t>
            </a:r>
            <a:r>
              <a:rPr lang="en-US" sz="2200" b="1" dirty="0">
                <a:solidFill>
                  <a:srgbClr val="261249"/>
                </a:solidFill>
                <a:latin typeface="Georgia"/>
              </a:rPr>
              <a:t>using .html, CSS</a:t>
            </a:r>
            <a:endParaRPr sz="2200" b="1" i="0" dirty="0">
              <a:solidFill>
                <a:srgbClr val="261249"/>
              </a:solidFill>
              <a:latin typeface="Georgi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BEF290-B672-DAC5-A840-1FACAC7DE9CD}"/>
              </a:ext>
            </a:extLst>
          </p:cNvPr>
          <p:cNvSpPr txBox="1"/>
          <p:nvPr/>
        </p:nvSpPr>
        <p:spPr>
          <a:xfrm>
            <a:off x="11018520" y="365760"/>
            <a:ext cx="5486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6F5377"/>
                </a:solidFill>
                <a:latin typeface="Aptos"/>
              </a:rPr>
              <a:t>03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1381C6-917F-0A41-A077-66740AE5E512}"/>
              </a:ext>
            </a:extLst>
          </p:cNvPr>
          <p:cNvSpPr txBox="1"/>
          <p:nvPr/>
        </p:nvSpPr>
        <p:spPr>
          <a:xfrm>
            <a:off x="548640" y="829087"/>
            <a:ext cx="5029200" cy="4770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2500" b="1" i="0" dirty="0">
                <a:solidFill>
                  <a:schemeClr val="accent4">
                    <a:lumMod val="75000"/>
                  </a:schemeClr>
                </a:solidFill>
                <a:latin typeface="Georgia"/>
              </a:rPr>
              <a:t>Our UI</a:t>
            </a:r>
            <a:endParaRPr sz="2500" b="1" i="0" dirty="0">
              <a:solidFill>
                <a:schemeClr val="accent4">
                  <a:lumMod val="75000"/>
                </a:schemeClr>
              </a:solidFill>
              <a:latin typeface="Georgia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B43A0CD-D8A5-8EFD-B30A-3BCD6D238BCC}"/>
              </a:ext>
            </a:extLst>
          </p:cNvPr>
          <p:cNvSpPr/>
          <p:nvPr/>
        </p:nvSpPr>
        <p:spPr>
          <a:xfrm>
            <a:off x="592849" y="2418816"/>
            <a:ext cx="109728" cy="109728"/>
          </a:xfrm>
          <a:prstGeom prst="ellipse">
            <a:avLst/>
          </a:prstGeom>
          <a:solidFill>
            <a:srgbClr val="C75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28C201-D44E-1686-2B46-2B9653D01AB0}"/>
              </a:ext>
            </a:extLst>
          </p:cNvPr>
          <p:cNvSpPr txBox="1"/>
          <p:nvPr/>
        </p:nvSpPr>
        <p:spPr>
          <a:xfrm>
            <a:off x="868680" y="2293763"/>
            <a:ext cx="461772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600" b="0" i="0" dirty="0">
                <a:solidFill>
                  <a:srgbClr val="261249"/>
                </a:solidFill>
                <a:latin typeface="Aptos"/>
              </a:rPr>
              <a:t>Colors, gradient and hues, soft palette</a:t>
            </a:r>
            <a:endParaRPr sz="1600" b="0" i="0" dirty="0">
              <a:solidFill>
                <a:srgbClr val="261249"/>
              </a:solidFill>
              <a:latin typeface="Apto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0E9928A-B56E-ED4F-EC37-2F067DB3FB1F}"/>
              </a:ext>
            </a:extLst>
          </p:cNvPr>
          <p:cNvSpPr/>
          <p:nvPr/>
        </p:nvSpPr>
        <p:spPr>
          <a:xfrm>
            <a:off x="592849" y="2903771"/>
            <a:ext cx="109728" cy="109728"/>
          </a:xfrm>
          <a:prstGeom prst="ellipse">
            <a:avLst/>
          </a:prstGeom>
          <a:solidFill>
            <a:srgbClr val="C75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2B4EDF-2868-7FEE-D73F-61436C3FC8B6}"/>
              </a:ext>
            </a:extLst>
          </p:cNvPr>
          <p:cNvSpPr txBox="1"/>
          <p:nvPr/>
        </p:nvSpPr>
        <p:spPr>
          <a:xfrm>
            <a:off x="853440" y="2853304"/>
            <a:ext cx="2979199" cy="58477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600" b="0" i="0" dirty="0">
                <a:solidFill>
                  <a:srgbClr val="261249"/>
                </a:solidFill>
                <a:latin typeface="Aptos"/>
              </a:rPr>
              <a:t>Glassy effect on cards, with multiple different colors</a:t>
            </a:r>
            <a:endParaRPr sz="1600" b="0" i="0" dirty="0">
              <a:solidFill>
                <a:srgbClr val="261249"/>
              </a:solidFill>
              <a:latin typeface="Aptos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FD8D7E9-BD51-09B7-6D4C-32306A99C636}"/>
              </a:ext>
            </a:extLst>
          </p:cNvPr>
          <p:cNvSpPr/>
          <p:nvPr/>
        </p:nvSpPr>
        <p:spPr>
          <a:xfrm>
            <a:off x="4800842" y="644146"/>
            <a:ext cx="6954749" cy="538476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FC40D5E-0CD7-1772-79B3-D81D5C09314B}"/>
              </a:ext>
            </a:extLst>
          </p:cNvPr>
          <p:cNvSpPr txBox="1"/>
          <p:nvPr/>
        </p:nvSpPr>
        <p:spPr>
          <a:xfrm>
            <a:off x="875980" y="3553441"/>
            <a:ext cx="461772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600" b="0" i="0" dirty="0">
                <a:solidFill>
                  <a:srgbClr val="261249"/>
                </a:solidFill>
                <a:latin typeface="Aptos"/>
              </a:rPr>
              <a:t>Fun fonts</a:t>
            </a:r>
            <a:endParaRPr sz="1600" b="0" i="0" dirty="0">
              <a:solidFill>
                <a:srgbClr val="261249"/>
              </a:solidFill>
              <a:latin typeface="Aptos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A320466-14DF-268D-E316-6AA47A8FB330}"/>
              </a:ext>
            </a:extLst>
          </p:cNvPr>
          <p:cNvSpPr/>
          <p:nvPr/>
        </p:nvSpPr>
        <p:spPr>
          <a:xfrm>
            <a:off x="564427" y="3632915"/>
            <a:ext cx="109728" cy="109728"/>
          </a:xfrm>
          <a:prstGeom prst="ellipse">
            <a:avLst/>
          </a:prstGeom>
          <a:solidFill>
            <a:srgbClr val="C75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 preview">
            <a:extLst>
              <a:ext uri="{FF2B5EF4-FFF2-40B4-BE49-F238E27FC236}">
                <a16:creationId xmlns:a16="http://schemas.microsoft.com/office/drawing/2014/main" id="{426AA9BB-9192-77B9-8413-B67449826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7693" y="1185855"/>
            <a:ext cx="3231977" cy="3854496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7E09402D-90D9-48A9-EFD6-2EE7EDF03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937" y="945017"/>
            <a:ext cx="2963959" cy="45741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71BE396-A136-CBE5-229F-05946F477A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115223"/>
            <a:ext cx="4050377" cy="1974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73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FA3861-F7C0-A37F-38C8-31ED0D513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E66BF514-4801-EB3B-B93C-98A183B2FBD3}"/>
              </a:ext>
            </a:extLst>
          </p:cNvPr>
          <p:cNvSpPr/>
          <p:nvPr/>
        </p:nvSpPr>
        <p:spPr>
          <a:xfrm>
            <a:off x="8229600" y="-640080"/>
            <a:ext cx="4389120" cy="4114800"/>
          </a:xfrm>
          <a:prstGeom prst="ellipse">
            <a:avLst/>
          </a:prstGeom>
          <a:solidFill>
            <a:srgbClr val="C0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43DD48-6B98-E25A-411F-870F5E7648FB}"/>
              </a:ext>
            </a:extLst>
          </p:cNvPr>
          <p:cNvSpPr txBox="1"/>
          <p:nvPr/>
        </p:nvSpPr>
        <p:spPr>
          <a:xfrm>
            <a:off x="594360" y="320040"/>
            <a:ext cx="8229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7538F"/>
                </a:solidFill>
                <a:latin typeface="Aptos"/>
              </a:rPr>
              <a:t>02 / THE SOLUTION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08007C-F036-5578-01EA-E7FB5B351537}"/>
              </a:ext>
            </a:extLst>
          </p:cNvPr>
          <p:cNvSpPr txBox="1"/>
          <p:nvPr/>
        </p:nvSpPr>
        <p:spPr>
          <a:xfrm>
            <a:off x="548640" y="797245"/>
            <a:ext cx="5029200" cy="4770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2500" b="1" i="0" dirty="0">
                <a:solidFill>
                  <a:schemeClr val="accent4">
                    <a:lumMod val="75000"/>
                  </a:schemeClr>
                </a:solidFill>
                <a:latin typeface="Georgia"/>
              </a:rPr>
              <a:t>Using Gemini API</a:t>
            </a:r>
            <a:endParaRPr sz="2500" b="1" i="0" dirty="0">
              <a:solidFill>
                <a:schemeClr val="accent4">
                  <a:lumMod val="75000"/>
                </a:schemeClr>
              </a:solidFill>
              <a:latin typeface="Georgia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2FFCD33-1333-AB98-3FFA-633C942528A8}"/>
              </a:ext>
            </a:extLst>
          </p:cNvPr>
          <p:cNvSpPr/>
          <p:nvPr/>
        </p:nvSpPr>
        <p:spPr>
          <a:xfrm>
            <a:off x="511264" y="1893287"/>
            <a:ext cx="109728" cy="109728"/>
          </a:xfrm>
          <a:prstGeom prst="ellipse">
            <a:avLst/>
          </a:prstGeom>
          <a:solidFill>
            <a:srgbClr val="C75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C194C9F-6EBF-D2E9-52D9-9F5B736ACF73}"/>
              </a:ext>
            </a:extLst>
          </p:cNvPr>
          <p:cNvSpPr/>
          <p:nvPr/>
        </p:nvSpPr>
        <p:spPr>
          <a:xfrm>
            <a:off x="537985" y="2650588"/>
            <a:ext cx="109728" cy="109728"/>
          </a:xfrm>
          <a:prstGeom prst="ellipse">
            <a:avLst/>
          </a:prstGeom>
          <a:solidFill>
            <a:srgbClr val="C75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875E28D-EF55-8A4B-F830-6FF3D9BBC7AC}"/>
              </a:ext>
            </a:extLst>
          </p:cNvPr>
          <p:cNvSpPr/>
          <p:nvPr/>
        </p:nvSpPr>
        <p:spPr>
          <a:xfrm>
            <a:off x="5099538" y="644146"/>
            <a:ext cx="6187751" cy="5349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8D029D4-34CF-B354-35D6-D2610EB166C9}"/>
              </a:ext>
            </a:extLst>
          </p:cNvPr>
          <p:cNvSpPr/>
          <p:nvPr/>
        </p:nvSpPr>
        <p:spPr>
          <a:xfrm>
            <a:off x="592849" y="3596988"/>
            <a:ext cx="109728" cy="109728"/>
          </a:xfrm>
          <a:prstGeom prst="ellipse">
            <a:avLst/>
          </a:prstGeom>
          <a:solidFill>
            <a:srgbClr val="C75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57E48EC-3A15-3C19-C707-FA0BB880C076}"/>
              </a:ext>
            </a:extLst>
          </p:cNvPr>
          <p:cNvSpPr/>
          <p:nvPr/>
        </p:nvSpPr>
        <p:spPr>
          <a:xfrm>
            <a:off x="592849" y="4191671"/>
            <a:ext cx="109728" cy="109728"/>
          </a:xfrm>
          <a:prstGeom prst="ellipse">
            <a:avLst/>
          </a:prstGeom>
          <a:solidFill>
            <a:srgbClr val="C75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C232C11-5839-DCE8-3660-609C47553D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415"/>
          <a:stretch>
            <a:fillRect/>
          </a:stretch>
        </p:blipFill>
        <p:spPr>
          <a:xfrm>
            <a:off x="5420792" y="1073153"/>
            <a:ext cx="5617616" cy="410324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BA19D85-D034-323D-76F2-DC831943CDCD}"/>
              </a:ext>
            </a:extLst>
          </p:cNvPr>
          <p:cNvSpPr txBox="1"/>
          <p:nvPr/>
        </p:nvSpPr>
        <p:spPr>
          <a:xfrm>
            <a:off x="836483" y="1744140"/>
            <a:ext cx="4617720" cy="58477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lang="en-US" sz="1600" dirty="0" err="1"/>
              <a:t>processing.py</a:t>
            </a:r>
            <a:r>
              <a:rPr lang="en-US" sz="1600" dirty="0"/>
              <a:t> handles parsing raw JSON</a:t>
            </a:r>
          </a:p>
          <a:p>
            <a:r>
              <a:rPr lang="en-US" sz="1600" dirty="0"/>
              <a:t>data into Pandas </a:t>
            </a:r>
            <a:r>
              <a:rPr lang="en-US" sz="1600" dirty="0" err="1"/>
              <a:t>DataFrame</a:t>
            </a:r>
            <a:endParaRPr lang="en-US" sz="1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77680EE-D6C8-64F6-678B-7B4345BE3EA0}"/>
              </a:ext>
            </a:extLst>
          </p:cNvPr>
          <p:cNvSpPr txBox="1"/>
          <p:nvPr/>
        </p:nvSpPr>
        <p:spPr>
          <a:xfrm>
            <a:off x="830567" y="2485136"/>
            <a:ext cx="2979199" cy="58477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lang="en-US" sz="1600" dirty="0"/>
              <a:t>Used Gemini 3.8 Flash and prompt</a:t>
            </a:r>
          </a:p>
          <a:p>
            <a:r>
              <a:rPr lang="en-US" sz="1600" dirty="0"/>
              <a:t>engineering to summarize reviews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E3337F-A094-A04A-DF38-80AC377882EE}"/>
              </a:ext>
            </a:extLst>
          </p:cNvPr>
          <p:cNvSpPr txBox="1"/>
          <p:nvPr/>
        </p:nvSpPr>
        <p:spPr>
          <a:xfrm>
            <a:off x="904711" y="3414328"/>
            <a:ext cx="2979199" cy="58477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lang="en-US" sz="1600" dirty="0"/>
              <a:t>Input: </a:t>
            </a:r>
            <a:r>
              <a:rPr lang="en-US" sz="1600" dirty="0" err="1"/>
              <a:t>DataFrame</a:t>
            </a:r>
            <a:r>
              <a:rPr lang="en-US" sz="1600" dirty="0"/>
              <a:t> of professor</a:t>
            </a:r>
          </a:p>
          <a:p>
            <a:r>
              <a:rPr lang="en-US" sz="1600" dirty="0"/>
              <a:t>Review data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BCE1BB-D182-48A2-345F-89BB10A9C5DD}"/>
              </a:ext>
            </a:extLst>
          </p:cNvPr>
          <p:cNvSpPr txBox="1"/>
          <p:nvPr/>
        </p:nvSpPr>
        <p:spPr>
          <a:xfrm>
            <a:off x="836483" y="4105734"/>
            <a:ext cx="461772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lang="en-US" sz="1600" dirty="0"/>
              <a:t>Output: text file to be parsed in JavaScript</a:t>
            </a:r>
          </a:p>
        </p:txBody>
      </p:sp>
    </p:spTree>
    <p:extLst>
      <p:ext uri="{BB962C8B-B14F-4D97-AF65-F5344CB8AC3E}">
        <p14:creationId xmlns:p14="http://schemas.microsoft.com/office/powerpoint/2010/main" val="3883007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29600" y="-640080"/>
            <a:ext cx="4389120" cy="4114800"/>
          </a:xfrm>
          <a:prstGeom prst="ellipse">
            <a:avLst/>
          </a:prstGeom>
          <a:solidFill>
            <a:srgbClr val="C0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502920"/>
            <a:ext cx="10927080" cy="571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051560"/>
            <a:ext cx="9875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7538F"/>
                </a:solidFill>
                <a:latin typeface="Aptos"/>
              </a:rPr>
              <a:t>✦  TERPWHISPER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892040"/>
            <a:ext cx="896112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400" dirty="0">
                <a:solidFill>
                  <a:srgbClr val="6F5377"/>
                </a:solidFill>
                <a:latin typeface="Aptos"/>
              </a:rPr>
              <a:t>Aria, Martin, Abigail</a:t>
            </a:r>
            <a:endParaRPr sz="1400" b="0" i="0" dirty="0">
              <a:solidFill>
                <a:srgbClr val="6F5377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966960" y="5577840"/>
            <a:ext cx="10058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0"/>
              </a:spcAft>
            </a:pPr>
            <a:r>
              <a:rPr sz="1700" b="1" i="0">
                <a:solidFill>
                  <a:srgbClr val="C7538F"/>
                </a:solidFill>
                <a:latin typeface="Georgia"/>
              </a:rPr>
              <a:t>✧ ♡ ✦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35CCB8-108F-F567-63C2-A1EFE36FEFAB}"/>
              </a:ext>
            </a:extLst>
          </p:cNvPr>
          <p:cNvSpPr txBox="1"/>
          <p:nvPr/>
        </p:nvSpPr>
        <p:spPr>
          <a:xfrm>
            <a:off x="1051560" y="1600200"/>
            <a:ext cx="9875520" cy="83099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C7538F"/>
                </a:solidFill>
                <a:latin typeface="Georgia"/>
              </a:rPr>
              <a:t>TerpWhisper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A34E7A-5EF2-C84E-F06D-80D0B2B6CB19}"/>
              </a:ext>
            </a:extLst>
          </p:cNvPr>
          <p:cNvSpPr txBox="1"/>
          <p:nvPr/>
        </p:nvSpPr>
        <p:spPr>
          <a:xfrm>
            <a:off x="1051560" y="2955518"/>
            <a:ext cx="9875520" cy="83099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4800" b="1" i="0" dirty="0">
                <a:solidFill>
                  <a:schemeClr val="accent4">
                    <a:lumMod val="75000"/>
                  </a:schemeClr>
                </a:solidFill>
                <a:latin typeface="Georgia"/>
              </a:rPr>
              <a:t>Thank you!</a:t>
            </a:r>
            <a:endParaRPr sz="4800" b="1" i="0" dirty="0">
              <a:solidFill>
                <a:schemeClr val="accent4">
                  <a:lumMod val="75000"/>
                </a:schemeClr>
              </a:solidFill>
              <a:latin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202</Words>
  <Application>Microsoft Macintosh PowerPoint</Application>
  <PresentationFormat>Widescreen</PresentationFormat>
  <Paragraphs>37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Aria Song</cp:lastModifiedBy>
  <cp:revision>3</cp:revision>
  <dcterms:created xsi:type="dcterms:W3CDTF">2013-01-27T09:14:16Z</dcterms:created>
  <dcterms:modified xsi:type="dcterms:W3CDTF">2026-10-18T15:23:36Z</dcterms:modified>
  <cp:category/>
</cp:coreProperties>
</file>